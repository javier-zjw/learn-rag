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华东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360</c:v>
                </c:pt>
                <c:pt idx="2">
                  <c:v>410</c:v>
                </c:pt>
                <c:pt idx="3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华南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280</c:v>
                </c:pt>
                <c:pt idx="1">
                  <c:v>300</c:v>
                </c:pt>
                <c:pt idx="2">
                  <c:v>350</c:v>
                </c:pt>
                <c:pt idx="3">
                  <c:v>390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华北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260</c:v>
                </c:pt>
                <c:pt idx="1">
                  <c:v>270</c:v>
                </c:pt>
                <c:pt idx="2">
                  <c:v>330</c:v>
                </c:pt>
                <c:pt idx="3">
                  <c:v>380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西南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150</c:v>
                </c:pt>
                <c:pt idx="1">
                  <c:v>170</c:v>
                </c:pt>
                <c:pt idx="2">
                  <c:v>200</c:v>
                </c:pt>
                <c:pt idx="3">
                  <c:v>230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全年占比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1570</c:v>
                </c:pt>
                <c:pt idx="1">
                  <c:v>1320</c:v>
                </c:pt>
                <c:pt idx="2">
                  <c:v>1240</c:v>
                </c:pt>
                <c:pt idx="3">
                  <c:v>750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讲解要点：先说结论，再说风险，回款问题需要财务部配合。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柱状图和饼图都是 PowerPoint 原生图表，数据保存在文件内部。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年第四季度经营复盘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星河科技 · 销售运营中心 · 2026 年 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全年营收 4,860 万元，完成目标的 101%</a:t>
            </a:r>
          </a:p>
          <a:p>
            <a:pPr lvl="1"/>
            <a:r>
              <a:t>华东区第四季度营收 480 万元，环比增长 17.1%</a:t>
            </a:r>
          </a:p>
          <a:p>
            <a:pPr lvl="1"/>
            <a:r>
              <a:t>西南区全年增速 53.3%，为增长最快区域</a:t>
            </a:r>
          </a:p>
          <a:p>
            <a:pPr/>
            <a:r>
              <a:t>回款周期变长，应收账款周转天数 68 天</a:t>
            </a:r>
          </a:p>
          <a:p>
            <a:pPr lvl="1"/>
            <a:r>
              <a:t>需要重点关注前十大客户的续约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区域营收明细（万元）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48640">
                <a:tc rowSpan="2"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上半年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下半年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合计</a:t>
                      </a:r>
                    </a:p>
                  </a:txBody>
                  <a:tcPr/>
                </a:tc>
              </a:tr>
              <a:tr h="5486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1570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季度营收对比（原生图表）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8580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863840" y="1371600"/>
          <a:ext cx="39319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报销流程与改进措施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233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图：报销审批流程（图片）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4572000"/>
            <a:ext cx="10515600" cy="1371600"/>
            <a:chOff x="731520" y="4572000"/>
            <a:chExt cx="10515600" cy="1371600"/>
          </a:xfrm>
        </p:grpSpPr>
        <p:sp>
          <p:nvSpPr>
            <p:cNvPr id="6" name="TextBox 5"/>
            <p:cNvSpPr txBox="1"/>
            <p:nvPr/>
          </p:nvSpPr>
          <p:spPr>
            <a:xfrm>
              <a:off x="731520" y="4572000"/>
              <a:ext cx="50292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b="1"/>
                <a:t>改进一</a:t>
              </a:r>
            </a:p>
            <a:p>
              <a:r>
                <a:t>审批节点从 5 个减少到 4 个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17920" y="4572000"/>
              <a:ext cx="50292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b="1"/>
                <a:t>改进二</a:t>
              </a:r>
            </a:p>
            <a:p>
              <a:r>
                <a:t>发票自动识别，减少手工录入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趋势图（仅图片，检验图片中的文字识别）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80938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/>
              <a:t>谢谢！</a:t>
            </a:r>
          </a:p>
          <a:p>
            <a:r>
              <a:t>联系人：运营中心 王芳  分机 8021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